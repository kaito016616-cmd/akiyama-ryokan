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762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88E5"/>
                </a:solidFill>
                <a:latin typeface="游ゴシック"/>
                <a:ea typeface="游ゴシック"/>
              </a:rPr>
              <a:t>令和8年度 卒業研究 中間報告書1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262A2E"/>
                </a:solidFill>
                <a:latin typeface="游ゴシック"/>
                <a:ea typeface="游ゴシック"/>
              </a:rPr>
              <a:t>ABSがもたらす影響かつ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262A2E"/>
                </a:solidFill>
                <a:latin typeface="游ゴシック"/>
                <a:ea typeface="游ゴシック"/>
              </a:rPr>
              <a:t>簡易ABSの作成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188720"/>
            <a:ext cx="2743200" cy="274320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88E5"/>
                </a:solidFill>
                <a:latin typeface="游ゴシック"/>
                <a:ea typeface="游ゴシック"/>
              </a:rPr>
              <a:t>[ 野球/ABS写真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情報メディア工学科／データサイエンス学科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提出者：稲木陽秋　神田蒼生　鶴身敬太　黛祐貴　宮嶋海音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指導教員：北久保茂 准教授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8F94"/>
                </a:solidFill>
                <a:latin typeface="游ゴシック"/>
                <a:ea typeface="游ゴシック"/>
              </a:rPr>
              <a:t>提出日：2026年7月17日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904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研究背景・目的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66544"/>
            <a:ext cx="457200" cy="45720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9397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本研究の有用性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ABSとは／疑似ABSの仕組み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73552"/>
            <a:ext cx="457200" cy="45720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00984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課題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77056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0448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システム設計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0799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研究の進捗（文献調査・技術調査・データ収集）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084064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1149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比較・考察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687568"/>
            <a:ext cx="457200" cy="45720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71500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今後の日程計画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1/12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研究背景・目的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88E5"/>
                </a:solidFill>
                <a:latin typeface="游ゴシック"/>
                <a:ea typeface="游ゴシック"/>
              </a:rPr>
              <a:t>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プロ野球でABS（自動ボール・ストライク判定システム）が導入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判定の公平性が向上した一方、高性能機器が必要で一般利用は困難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画像処理技術を用いた「疑似ABS」を開発し、日常の野球遊びで
手軽に利用できるシステムを目指す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3A047"/>
                </a:solidFill>
                <a:latin typeface="游ゴシック"/>
                <a:ea typeface="游ゴシック"/>
              </a:rPr>
              <a:t>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ABSを参考に、画像処理を用いた疑似ABSを開発する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キャッチボールやストラックアウトなど日常の遊びで
判定を楽しめるシステムを実現する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精度・実用性が確認できれば草野球への応用も視野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11064240" cy="128016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88E5"/>
                </a:solidFill>
                <a:latin typeface="游ゴシック"/>
                <a:ea typeface="游ゴシック"/>
              </a:rPr>
              <a:t>[ ABS導入シーン等の写真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2/12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本研究の有用性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900" b="0">
                <a:solidFill>
                  <a:srgbClr val="262A2E"/>
                </a:solidFill>
                <a:latin typeface="游ゴシック"/>
                <a:ea typeface="游ゴシック"/>
              </a:rPr>
              <a:t>● 高価な設備を必要とせず、スマートフォンなど身近な機器でボール判定が可能に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900" b="0">
                <a:solidFill>
                  <a:srgbClr val="262A2E"/>
                </a:solidFill>
                <a:latin typeface="游ゴシック"/>
                <a:ea typeface="游ゴシック"/>
              </a:rPr>
              <a:t>● 日常の野球遊びをより楽しめるだけでなく、判定の補助ツールとしても活用できる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900" b="0">
                <a:solidFill>
                  <a:srgbClr val="262A2E"/>
                </a:solidFill>
                <a:latin typeface="游ゴシック"/>
                <a:ea typeface="游ゴシック"/>
              </a:rPr>
              <a:t>● 精度が向上すれば、草野球など審判の負担軽減・判定の公平性向上にも貢献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3383280" cy="173736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1E88E5"/>
                </a:solidFill>
                <a:latin typeface="游ゴシック"/>
                <a:ea typeface="游ゴシック"/>
              </a:rPr>
              <a:t>低コスト</a:t>
            </a:r>
          </a:p>
          <a:p>
            <a:pPr algn="ctr"/>
            <a:r>
              <a:rPr sz="1400" b="0">
                <a:solidFill>
                  <a:srgbClr val="262A2E"/>
                </a:solidFill>
                <a:latin typeface="游ゴシック"/>
                <a:ea typeface="游ゴシック"/>
              </a:rPr>
              <a:t>スマホだけで判定OK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114800"/>
            <a:ext cx="3383280" cy="173736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1E88E5"/>
                </a:solidFill>
                <a:latin typeface="游ゴシック"/>
                <a:ea typeface="游ゴシック"/>
              </a:rPr>
              <a:t>手軽さ</a:t>
            </a:r>
          </a:p>
          <a:p>
            <a:pPr algn="ctr"/>
            <a:r>
              <a:rPr sz="1400" b="0">
                <a:solidFill>
                  <a:srgbClr val="262A2E"/>
                </a:solidFill>
                <a:latin typeface="游ゴシック"/>
                <a:ea typeface="游ゴシック"/>
              </a:rPr>
              <a:t>日常の遊びで活用可能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4114800"/>
            <a:ext cx="3383280" cy="173736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43A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1E88E5"/>
                </a:solidFill>
                <a:latin typeface="游ゴシック"/>
                <a:ea typeface="游ゴシック"/>
              </a:rPr>
              <a:t>将来性</a:t>
            </a:r>
          </a:p>
          <a:p>
            <a:pPr algn="ctr"/>
            <a:r>
              <a:rPr sz="1400" b="0">
                <a:solidFill>
                  <a:srgbClr val="262A2E"/>
                </a:solidFill>
                <a:latin typeface="游ゴシック"/>
                <a:ea typeface="游ゴシック"/>
              </a:rPr>
              <a:t>草野球への応用も視野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3/12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ABSとは／疑似ABSの仕組み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88E5"/>
                </a:solidFill>
                <a:latin typeface="游ゴシック"/>
                <a:ea typeface="游ゴシック"/>
              </a:rPr>
              <a:t>ABS（本家）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複数台の高速度カメラでボール軌道を追跡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三次元空間上で軌道を推定し判定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判定の公平性・正確性を向上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3A047"/>
                </a:solidFill>
                <a:latin typeface="游ゴシック"/>
                <a:ea typeface="游ゴシック"/>
              </a:rPr>
              <a:t>本研究の疑似ABS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スマートフォンで撮影した動画を利用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画像処理でボール位置を検出・追跡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軌道がストライクゾーンを通過したか判定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4389120" cy="146304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高速度カメラ×複数台
(高コスト・高精度)</a:t>
            </a:r>
          </a:p>
        </p:txBody>
      </p:sp>
      <p:sp>
        <p:nvSpPr>
          <p:cNvPr id="10" name="Oval 9"/>
          <p:cNvSpPr/>
          <p:nvPr/>
        </p:nvSpPr>
        <p:spPr>
          <a:xfrm>
            <a:off x="5532120" y="4526280"/>
            <a:ext cx="640080" cy="640080"/>
          </a:xfrm>
          <a:prstGeom prst="ellipse">
            <a:avLst/>
          </a:prstGeom>
          <a:solidFill>
            <a:srgbClr val="FFFFFF"/>
          </a:solidFill>
          <a:ln>
            <a:solidFill>
              <a:srgbClr val="8A8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8A8F94"/>
                </a:solidFill>
                <a:latin typeface="游ゴシック"/>
                <a:ea typeface="游ゴシック"/>
              </a:rP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4389120" cy="146304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  <a:ea typeface="游ゴシック"/>
              </a:rPr>
              <a:t>スマートフォン1台
(低コスト・手軽)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4/12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 b="0">
                <a:solidFill>
                  <a:srgbClr val="262A2E"/>
                </a:solidFill>
                <a:latin typeface="游ゴシック"/>
                <a:ea typeface="游ゴシック"/>
              </a:rPr>
              <a:t>● スマートフォンのカメラは高速度カメラより性能が低く、ボール高速移動時の検出が困難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 b="0">
                <a:solidFill>
                  <a:srgbClr val="262A2E"/>
                </a:solidFill>
                <a:latin typeface="游ゴシック"/>
                <a:ea typeface="游ゴシック"/>
              </a:rPr>
              <a:t>● 照明条件・背景・撮影位置・撮影角度の違いにより判定精度が変化する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 b="0">
                <a:solidFill>
                  <a:srgbClr val="262A2E"/>
                </a:solidFill>
                <a:latin typeface="游ゴシック"/>
                <a:ea typeface="游ゴシック"/>
              </a:rPr>
              <a:t>● ストライクゾーンの設定方法や、ボールの軌道推定精度についても検討が必要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06240"/>
            <a:ext cx="10789920" cy="182880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88E5"/>
                </a:solidFill>
                <a:latin typeface="游ゴシック"/>
                <a:ea typeface="游ゴシック"/>
              </a:rPr>
              <a:t>[ 検出困難な場面の写真例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5/12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システム設計（全体構成）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62A2E"/>
                </a:solidFill>
                <a:latin typeface="游ゴシック"/>
                <a:ea typeface="游ゴシック"/>
              </a:rPr>
              <a:t>以下の6つの処理を順番に実行し、ストライク・ボールを判定する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3291840" cy="100584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</a:rPr>
              <a:t>動画入力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6240" y="2313432"/>
            <a:ext cx="320040" cy="219456"/>
          </a:xfrm>
          <a:prstGeom prst="rightArrow">
            <a:avLst/>
          </a:prstGeom>
          <a:solidFill>
            <a:srgbClr val="8A8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920240"/>
            <a:ext cx="3291840" cy="100584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</a:rPr>
              <a:t>キャリブレーション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2313432"/>
            <a:ext cx="320040" cy="219456"/>
          </a:xfrm>
          <a:prstGeom prst="rightArrow">
            <a:avLst/>
          </a:prstGeom>
          <a:solidFill>
            <a:srgbClr val="8A8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920240"/>
            <a:ext cx="3291840" cy="100584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</a:rPr>
              <a:t>ボール検出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3291840" cy="100584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  <a:ea typeface="游ゴシック"/>
              </a:rPr>
              <a:t>軌跡フィルタリング
・通過位置推定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206240" y="3685032"/>
            <a:ext cx="320040" cy="219456"/>
          </a:xfrm>
          <a:prstGeom prst="rightArrow">
            <a:avLst/>
          </a:prstGeom>
          <a:solidFill>
            <a:srgbClr val="8A8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3291840"/>
            <a:ext cx="3291840" cy="100584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  <a:ea typeface="游ゴシック"/>
              </a:rPr>
              <a:t>ストライク判定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18120" y="3685032"/>
            <a:ext cx="320040" cy="219456"/>
          </a:xfrm>
          <a:prstGeom prst="rightArrow">
            <a:avLst/>
          </a:prstGeom>
          <a:solidFill>
            <a:srgbClr val="8A8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3291840"/>
            <a:ext cx="3291840" cy="1005840"/>
          </a:xfrm>
          <a:prstGeom prst="round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"/>
                <a:ea typeface="游ゴシック"/>
              </a:rPr>
              <a:t>結果表示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62A2E"/>
                </a:solidFill>
                <a:latin typeface="游ゴシック"/>
                <a:ea typeface="游ゴシック"/>
              </a:rPr>
              <a:t>● 動画入力：側面・後方の2方向から撮影した映像を使用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62A2E"/>
                </a:solidFill>
                <a:latin typeface="游ゴシック"/>
                <a:ea typeface="游ゴシック"/>
              </a:rPr>
              <a:t>● ボール検出：背景差分法(MOG2)＋輪郭の円形度評価で検出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62A2E"/>
                </a:solidFill>
                <a:latin typeface="游ゴシック"/>
                <a:ea typeface="游ゴシック"/>
              </a:rPr>
              <a:t>● ストライク判定：側面カメラでY軸、後方カメラでX軸を独立評価し、両軸ゾーン内でストライク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6/12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研究の進捗①　文献・技術調査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88E5"/>
                </a:solidFill>
                <a:latin typeface="游ゴシック"/>
                <a:ea typeface="游ゴシック"/>
              </a:rPr>
              <a:t>類似研究の調査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複数カメラでボール位置を取得し、三次元軌道を
推定する手法が一般的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画像処理と深層学習の組み合わせで高精度な
判定が実現可能と把握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3A047"/>
                </a:solidFill>
                <a:latin typeface="游ゴシック"/>
                <a:ea typeface="游ゴシック"/>
              </a:rPr>
              <a:t>画像処理技術の調査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OpenCVによる輪郭検出・色抽出を調査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YOLOなどの物体検出技術も調査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今後、本研究に適した手法を選定し実装予定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88E5"/>
                </a:solidFill>
                <a:latin typeface="游ゴシック"/>
                <a:ea typeface="游ゴシック"/>
              </a:rPr>
              <a:t>判定システムの調査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ストライクゾーンを基準に、ボール軌道が通過したかで判定する仕組みを確認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スマートフォン映像でも利用可能な簡易判定アルゴリズムを検討中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7/12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研究の進捗②　動画データの収集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YouTube上の野球動画・判定場面を収集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自分たちで実際にピッチングを行い、
ストライク・ボール判定が確認できる
場面を撮影・切り出し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 b="0">
                <a:solidFill>
                  <a:srgbClr val="262A2E"/>
                </a:solidFill>
                <a:latin typeface="游ゴシック"/>
                <a:ea typeface="游ゴシック"/>
              </a:rPr>
              <a:t>● 今後のプログラム開発・判定精度評価に
利用できるデータセットを作成中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429768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88E5"/>
                </a:solidFill>
                <a:latin typeface="游ゴシック"/>
                <a:ea typeface="游ゴシック"/>
              </a:rPr>
              <a:t>[ ピッチング撮影の様子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8/12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比較・考察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931920"/>
                <a:gridCol w="3931920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/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既存ABS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本研究（疑似ABS）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設備コスト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高い（複数台の高速度カメラ）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低い（スマートフォン1台）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判定精度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非常に高い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既存より低下する可能性あり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02336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導入コストを大幅に抑えられる点が本研究の特徴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一方で判定精度は既存システムより低下する可能性があるため、画像処理手法や
判定アルゴリズムの改善が必要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262A2E"/>
                </a:solidFill>
                <a:latin typeface="游ゴシック"/>
                <a:ea typeface="游ゴシック"/>
              </a:rPr>
              <a:t>● 今後は異なる撮影条件・ボール速度で実験を行い、判定精度や動作の安定性を評価予定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9/12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今後の日程計画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80960"/>
              </a:tblGrid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時期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作業内容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〜8月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検証実験、動画データ収集の継続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9月〜10月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データ集計、システム評価・改善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10月〜11月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プログラム改良、評価の継続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12月〜1月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卒業論文作成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1月〜2月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62A2E"/>
                          </a:solidFill>
                          <a:latin typeface="游ゴシック"/>
                          <a:ea typeface="游ゴシック"/>
                        </a:rPr>
                        <a:t>確認、発表資料作成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10/12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游ゴシック"/>
                <a:ea typeface="游ゴシック"/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2000" b="0">
                <a:solidFill>
                  <a:srgbClr val="262A2E"/>
                </a:solidFill>
                <a:latin typeface="游ゴシック"/>
                <a:ea typeface="游ゴシック"/>
              </a:rPr>
              <a:t>● スマートフォンのみで利用できる疑似ABSの開発を進めている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2000" b="0">
                <a:solidFill>
                  <a:srgbClr val="262A2E"/>
                </a:solidFill>
                <a:latin typeface="游ゴシック"/>
                <a:ea typeface="游ゴシック"/>
              </a:rPr>
              <a:t>● 文献調査・技術調査を通じてシステム設計の方向性を決定した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2000" b="0">
                <a:solidFill>
                  <a:srgbClr val="262A2E"/>
                </a:solidFill>
                <a:latin typeface="游ゴシック"/>
                <a:ea typeface="游ゴシック"/>
              </a:rPr>
              <a:t>● 今後はプログラム実装と検証実験を進め、判定精度・実用性を評価していく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4937760"/>
            <a:ext cx="4297680" cy="1097280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"/>
                <a:ea typeface="游ゴシック"/>
              </a:rPr>
              <a:t>ご清聴ありがとうございました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ABSがもたらす影響かつ簡易ABSの作成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F94"/>
                </a:solidFill>
                <a:latin typeface="游ゴシック"/>
                <a:ea typeface="游ゴシック"/>
              </a:rPr>
              <a:t>11/12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